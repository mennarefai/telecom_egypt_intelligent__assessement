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DM Sans Light"/>
      <p:regular r:id="rId201314"/>
    </p:embeddedFont>
    <p:embeddedFont>
      <p:font typeface="DM Sans Bold"/>
      <p:regular r:id="rId201315"/>
    </p:embeddedFont>
    <p:embeddedFont>
      <p:font typeface="Manrope"/>
      <p:regular r:id="rId201316"/>
    </p:embeddedFont>
    <p:embeddedFont>
      <p:font typeface="Manrope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1467941"/>
            <a:ext cx="6296860" cy="3118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400" spc="-223" kern="0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Telecom Egypt Intelligent Assistant</a:t>
            </a:r>
            <a:endParaRPr lang="en-US" sz="7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360" y="4870252"/>
            <a:ext cx="3621096" cy="5198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661475" y="1092895"/>
            <a:ext cx="958231" cy="287139"/>
          </a:xfrm>
          <a:prstGeom prst="roundRect">
            <a:avLst>
              <a:gd name="adj" fmla="val 47396"/>
            </a:avLst>
          </a:prstGeom>
          <a:solidFill>
            <a:srgbClr val="D4F7F5"/>
          </a:solidFill>
          <a:ln/>
        </p:spPr>
      </p:sp>
      <p:sp>
        <p:nvSpPr>
          <p:cNvPr id="4" name="Text 1"/>
          <p:cNvSpPr/>
          <p:nvPr/>
        </p:nvSpPr>
        <p:spPr>
          <a:xfrm>
            <a:off x="774879" y="1149548"/>
            <a:ext cx="134100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OVERVIEW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1455638"/>
            <a:ext cx="6296860" cy="51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700" spc="-112" kern="0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Project Introduction</a:t>
            </a:r>
            <a:endParaRPr lang="en-US" sz="3700" dirty="0"/>
          </a:p>
        </p:txBody>
      </p:sp>
      <p:sp>
        <p:nvSpPr>
          <p:cNvPr id="6" name="Shape 3"/>
          <p:cNvSpPr/>
          <p:nvPr/>
        </p:nvSpPr>
        <p:spPr>
          <a:xfrm>
            <a:off x="661475" y="2258913"/>
            <a:ext cx="6296860" cy="1809750"/>
          </a:xfrm>
          <a:prstGeom prst="roundRect">
            <a:avLst>
              <a:gd name="adj" fmla="val 9400"/>
            </a:avLst>
          </a:prstGeom>
          <a:solidFill>
            <a:srgbClr val="D4F7F5"/>
          </a:solidFill>
          <a:ln/>
        </p:spPr>
      </p:sp>
      <p:sp>
        <p:nvSpPr>
          <p:cNvPr id="7" name="Text 4"/>
          <p:cNvSpPr/>
          <p:nvPr/>
        </p:nvSpPr>
        <p:spPr>
          <a:xfrm>
            <a:off x="850482" y="2447925"/>
            <a:ext cx="5918846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50" spc="-56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What Is This System?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50482" y="2821186"/>
            <a:ext cx="5918846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Telecom Egypt Intelligent Assistant is a multimodal AI solution that enables seamless interaction through voice, text, and document-based queries  with full support for Arabic and Egyptian dialect users.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44936" y="4493915"/>
            <a:ext cx="6013399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Built on Retrieval-Augmented Generation (RAG) architecture, this assistant combines advanced language understanding with Telecom Egypt's internal knowledge base to deliver accurate, context-aware, and culturally relevant responses.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281289"/>
            <a:ext cx="25399" cy="1483717"/>
          </a:xfrm>
          <a:prstGeom prst="roundRect">
            <a:avLst>
              <a:gd name="adj" fmla="val 50001"/>
            </a:avLst>
          </a:prstGeom>
          <a:solidFill>
            <a:srgbClr val="28D3C9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0622"/>
            <a:ext cx="1148131" cy="287139"/>
          </a:xfrm>
          <a:prstGeom prst="roundRect">
            <a:avLst>
              <a:gd name="adj" fmla="val 47396"/>
            </a:avLst>
          </a:prstGeom>
          <a:solidFill>
            <a:srgbClr val="D4F7F5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587276"/>
            <a:ext cx="153090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CAPABILITIES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893366"/>
            <a:ext cx="10868745" cy="51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700" spc="-112" kern="0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Core System Capabilities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173883"/>
            <a:ext cx="3629331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1850" spc="-56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Voice Interaction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2547144"/>
            <a:ext cx="3629331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Accepts spoken input in Modern Standard Arabic and Egyptian dialect, converting speech to structured queries using ASR pipelines optimized for regional accents.</a:t>
            </a:r>
            <a:endParaRPr lang="en-US" sz="14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4267" y="2490291"/>
            <a:ext cx="3043161" cy="304323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823994" y="2740025"/>
            <a:ext cx="472468" cy="472480"/>
          </a:xfrm>
          <a:prstGeom prst="ellipse">
            <a:avLst/>
          </a:prstGeom>
          <a:solidFill>
            <a:srgbClr val="7FFFD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3868" y="2869902"/>
            <a:ext cx="212620" cy="21262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900889" y="2173883"/>
            <a:ext cx="3629331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50" spc="-56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Text Queries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7900889" y="2547144"/>
            <a:ext cx="3629331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Processes natural language text input in Arabic and English, understanding context and intent to deliver precise, conversational responses from the knowledge base.</a:t>
            </a:r>
            <a:endParaRPr lang="en-US" sz="1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4267" y="2490291"/>
            <a:ext cx="3043161" cy="304323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895134" y="2740025"/>
            <a:ext cx="472468" cy="472480"/>
          </a:xfrm>
          <a:prstGeom prst="ellipse">
            <a:avLst/>
          </a:prstGeom>
          <a:solidFill>
            <a:srgbClr val="28D3C9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25008" y="2869902"/>
            <a:ext cx="212620" cy="21262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900889" y="4153694"/>
            <a:ext cx="3629331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50" spc="-56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Document RAG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7900889" y="4526955"/>
            <a:ext cx="3629331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Retrieves and synthesizes information from Telecom Egypt's internal documents, PDFs, manuals, and knowledge repositories to ground every answer in verified content.</a:t>
            </a:r>
            <a:endParaRPr lang="en-US" sz="14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4267" y="2490291"/>
            <a:ext cx="3043161" cy="3043238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895134" y="4811216"/>
            <a:ext cx="472468" cy="472480"/>
          </a:xfrm>
          <a:prstGeom prst="ellipse">
            <a:avLst/>
          </a:prstGeom>
          <a:solidFill>
            <a:srgbClr val="6F8F99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25008" y="4941094"/>
            <a:ext cx="212620" cy="21262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61475" y="4153694"/>
            <a:ext cx="3629331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1850" spc="-56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Dialect Support</a:t>
            </a:r>
            <a:endParaRPr lang="en-US" sz="1850" dirty="0"/>
          </a:p>
        </p:txBody>
      </p:sp>
      <p:sp>
        <p:nvSpPr>
          <p:cNvPr id="21" name="Text 13"/>
          <p:cNvSpPr/>
          <p:nvPr/>
        </p:nvSpPr>
        <p:spPr>
          <a:xfrm>
            <a:off x="661475" y="4526955"/>
            <a:ext cx="3629331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Specifically tuned for Egyptian Arabic dialect, enabling natural and comfortable communication for local agents and customers without requiring formal language input.</a:t>
            </a:r>
            <a:endParaRPr lang="en-US" sz="14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4267" y="2490291"/>
            <a:ext cx="3043161" cy="3043238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4823994" y="4811216"/>
            <a:ext cx="472468" cy="472480"/>
          </a:xfrm>
          <a:prstGeom prst="ellipse">
            <a:avLst/>
          </a:prstGeom>
          <a:solidFill>
            <a:srgbClr val="2F4F4F"/>
          </a:solidFill>
          <a:ln/>
        </p:spPr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53868" y="4941094"/>
            <a:ext cx="212620" cy="2126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1057447" cy="229691"/>
          </a:xfrm>
          <a:prstGeom prst="roundRect">
            <a:avLst>
              <a:gd name="adj" fmla="val 47401"/>
            </a:avLst>
          </a:prstGeom>
          <a:solidFill>
            <a:srgbClr val="D4F7F5"/>
          </a:solidFill>
          <a:ln/>
        </p:spPr>
      </p:sp>
      <p:sp>
        <p:nvSpPr>
          <p:cNvPr id="3" name="Text 1"/>
          <p:cNvSpPr/>
          <p:nvPr/>
        </p:nvSpPr>
        <p:spPr>
          <a:xfrm>
            <a:off x="752159" y="565150"/>
            <a:ext cx="148566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797818"/>
            <a:ext cx="10868745" cy="415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950" spc="-89" kern="0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System Architecture</a:t>
            </a:r>
            <a:endParaRPr lang="en-US" sz="2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8724" y="1531045"/>
            <a:ext cx="6886700" cy="21719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38663" y="2079240"/>
            <a:ext cx="774231" cy="192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150" b="1" spc="-35" kern="0" dirty="0">
                <a:solidFill>
                  <a:srgbClr val="2F4F4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Input Layer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922731" y="2315975"/>
            <a:ext cx="1206199" cy="819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150" spc="-35" kern="0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Voice, text, and document ingestion with dialect normalization.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738237" y="2079240"/>
            <a:ext cx="872834" cy="192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150" b="1" spc="-35" kern="0" dirty="0">
                <a:solidFill>
                  <a:srgbClr val="2F4F4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RAG Pipeline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571555" y="2315975"/>
            <a:ext cx="1206199" cy="819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150" spc="-35" kern="0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Embedding, retrieval, and context assembly from the knowledge base.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264351" y="2079240"/>
            <a:ext cx="1025445" cy="192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150" b="1" spc="-35" kern="0" dirty="0">
                <a:solidFill>
                  <a:srgbClr val="2F4F4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LLM Reasoning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174026" y="2315975"/>
            <a:ext cx="1206199" cy="819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150" spc="-35" kern="0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Language model generates accurate, grounded Arabic responses.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860096" y="2161187"/>
            <a:ext cx="1091973" cy="192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150" b="1" spc="-35" kern="0" dirty="0">
                <a:solidFill>
                  <a:srgbClr val="2F4F4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Output Delivery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802984" y="2397921"/>
            <a:ext cx="1206199" cy="655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150" spc="-35" kern="0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Response delivered via voice synthesis or text to the end user.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9657910" y="2089646"/>
            <a:ext cx="1878561" cy="1054795"/>
          </a:xfrm>
          <a:prstGeom prst="roundRect">
            <a:avLst>
              <a:gd name="adj" fmla="val 12902"/>
            </a:avLst>
          </a:prstGeom>
          <a:solidFill>
            <a:srgbClr val="6F8F99"/>
          </a:solidFill>
          <a:ln/>
        </p:spPr>
      </p:sp>
      <p:sp>
        <p:nvSpPr>
          <p:cNvPr id="15" name="Text 12"/>
          <p:cNvSpPr/>
          <p:nvPr/>
        </p:nvSpPr>
        <p:spPr>
          <a:xfrm>
            <a:off x="9809116" y="2236291"/>
            <a:ext cx="1576150" cy="761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pipeline is designed for low-latency, high-accuracy retrieval across multilingual and multi-format document sources.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61475" y="3975100"/>
            <a:ext cx="340213" cy="340221"/>
          </a:xfrm>
          <a:prstGeom prst="roundRect">
            <a:avLst>
              <a:gd name="adj" fmla="val 40002"/>
            </a:avLst>
          </a:prstGeom>
          <a:solidFill>
            <a:srgbClr val="D4F7F5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8127" y="4031754"/>
            <a:ext cx="226808" cy="22681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22632" y="4041180"/>
            <a:ext cx="3060921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450" spc="-45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ASR &amp; Parsing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1122632" y="4321572"/>
            <a:ext cx="3060921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Automatic Speech Recognition via Whisper (medium) with domain-biased prompting for Egyptian telecom vocabulary. Arabic normalization and Egyptian→MSA mapping handle dialect variation. Document parsing supports PDF, DOCX, TXT, and Images (OCR) for ingestion into the RAG knowledge base.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4334759" y="3975100"/>
            <a:ext cx="340213" cy="340221"/>
          </a:xfrm>
          <a:prstGeom prst="roundRect">
            <a:avLst>
              <a:gd name="adj" fmla="val 40002"/>
            </a:avLst>
          </a:prstGeom>
          <a:solidFill>
            <a:srgbClr val="D4F7F5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91411" y="4031754"/>
            <a:ext cx="226808" cy="22681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95916" y="4041180"/>
            <a:ext cx="3060921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450" spc="-45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Vector Knowledge Base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4795916" y="4321572"/>
            <a:ext cx="3060921" cy="1370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Automatic Speech Recognition via Whisper (medium) with domain-biased prompting for Egyptian telecom vocabulary. Arabic normalization and Egyptian→MSA mapping handle dialect variation. Document parsing supports PDF, DOCX, TXT, and Images (OCR) for ingestion into the RAG knowledge base.Telecom Egypt documents are chunked, embedded, and indexed in a vector store for fast semantic retrieval at inference time.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8008043" y="3975100"/>
            <a:ext cx="340213" cy="340221"/>
          </a:xfrm>
          <a:prstGeom prst="roundRect">
            <a:avLst>
              <a:gd name="adj" fmla="val 40002"/>
            </a:avLst>
          </a:prstGeom>
          <a:solidFill>
            <a:srgbClr val="D4F7F5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64695" y="4031754"/>
            <a:ext cx="226808" cy="22681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469200" y="4041180"/>
            <a:ext cx="3061020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450" spc="-45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Response Generation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8469200" y="4321572"/>
            <a:ext cx="3061020" cy="456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Chunked, embedded (bge-m3, 1024-dim) and stored in FAISS retrieved by semantic similarity to ground every answer.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0111"/>
            <a:ext cx="1004168" cy="287139"/>
          </a:xfrm>
          <a:prstGeom prst="roundRect">
            <a:avLst>
              <a:gd name="adj" fmla="val 47396"/>
            </a:avLst>
          </a:prstGeom>
          <a:solidFill>
            <a:srgbClr val="D4F7F5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626765"/>
            <a:ext cx="138694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 CASES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32855"/>
            <a:ext cx="10868745" cy="51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700" spc="-112" kern="0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Key Use Cases &amp; Applications</a:t>
            </a:r>
            <a:endParaRPr lang="en-US" sz="3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13372"/>
            <a:ext cx="3465426" cy="21418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4591447"/>
            <a:ext cx="3465426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50" spc="-56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Customer Support Automation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61475" y="4964708"/>
            <a:ext cx="3465426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Empowers Telecom Egypt's contact center agents with instant AI-generated answers to billing, service, and technical queries in Egyptian Arabic.</a:t>
            </a:r>
            <a:endParaRPr lang="en-US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135" y="2213372"/>
            <a:ext cx="3465426" cy="214183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63135" y="4591447"/>
            <a:ext cx="3465426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50" spc="-56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Internal Knowledge Retrieval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363135" y="4964708"/>
            <a:ext cx="3465426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Staff can query internal manuals, policy documents, and technical specs via voice or text, receiving precise answers extracted from official Telecom Egypt materials.</a:t>
            </a:r>
            <a:endParaRPr lang="en-US" sz="14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794" y="2213372"/>
            <a:ext cx="3465426" cy="214183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64794" y="4591447"/>
            <a:ext cx="3465426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50" spc="-56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Self-Service Customer Portal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8064794" y="4964708"/>
            <a:ext cx="3465426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End customers interact directly with the assistant on web and mobile platforms to resolve issues, check account status, and get product information in their natural dialect.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8084"/>
            <a:ext cx="1591429" cy="287139"/>
          </a:xfrm>
          <a:prstGeom prst="roundRect">
            <a:avLst>
              <a:gd name="adj" fmla="val 47396"/>
            </a:avLst>
          </a:prstGeom>
          <a:solidFill>
            <a:srgbClr val="D4F7F5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604738"/>
            <a:ext cx="197420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DESIGN PRINCIPLES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10828"/>
            <a:ext cx="10868745" cy="51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700" spc="-112" kern="0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System Design Principles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61475" y="1714103"/>
            <a:ext cx="10868745" cy="1280517"/>
          </a:xfrm>
          <a:prstGeom prst="roundRect">
            <a:avLst>
              <a:gd name="adj" fmla="val 13285"/>
            </a:avLst>
          </a:prstGeom>
          <a:solidFill>
            <a:srgbClr val="D4F7F5"/>
          </a:solidFill>
          <a:ln/>
        </p:spPr>
      </p:sp>
      <p:sp>
        <p:nvSpPr>
          <p:cNvPr id="6" name="Text 4"/>
          <p:cNvSpPr/>
          <p:nvPr/>
        </p:nvSpPr>
        <p:spPr>
          <a:xfrm>
            <a:off x="850482" y="1903115"/>
            <a:ext cx="10490731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50" spc="-56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Built for Arabic-First Communication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50482" y="2276376"/>
            <a:ext cx="1049073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component of this system is designed with Arabic language and Egyptian dialect as primary considerations, not an afterthought.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61475" y="3207246"/>
            <a:ext cx="378014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45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3474740"/>
            <a:ext cx="5339820" cy="25400"/>
          </a:xfrm>
          <a:prstGeom prst="rect">
            <a:avLst/>
          </a:prstGeom>
          <a:solidFill>
            <a:srgbClr val="28D3C9"/>
          </a:solidFill>
          <a:ln/>
        </p:spPr>
      </p:sp>
      <p:sp>
        <p:nvSpPr>
          <p:cNvPr id="10" name="Text 8"/>
          <p:cNvSpPr/>
          <p:nvPr/>
        </p:nvSpPr>
        <p:spPr>
          <a:xfrm>
            <a:off x="661475" y="3619996"/>
            <a:ext cx="5339820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50" spc="-56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Accuracy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61475" y="3993257"/>
            <a:ext cx="5339820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RAG grounding ensures all responses are traceable to verified Telecom Egypt source documents, minimizing hallucination and building user trust.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190301" y="3207246"/>
            <a:ext cx="378014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45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190301" y="3474740"/>
            <a:ext cx="5339919" cy="25400"/>
          </a:xfrm>
          <a:prstGeom prst="rect">
            <a:avLst/>
          </a:prstGeom>
          <a:solidFill>
            <a:srgbClr val="28D3C9"/>
          </a:solidFill>
          <a:ln/>
        </p:spPr>
      </p:sp>
      <p:sp>
        <p:nvSpPr>
          <p:cNvPr id="14" name="Text 12"/>
          <p:cNvSpPr/>
          <p:nvPr/>
        </p:nvSpPr>
        <p:spPr>
          <a:xfrm>
            <a:off x="6190301" y="3619996"/>
            <a:ext cx="5339919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50" spc="-56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Dialect Inclusivity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6190301" y="3993257"/>
            <a:ext cx="5339919" cy="634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system accommodates Egyptian colloquial Arabic alongside MSA, ensuring accessibility for all user profiles without requiring formal language input.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1475" y="4958854"/>
            <a:ext cx="378014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45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61475" y="5226348"/>
            <a:ext cx="5339820" cy="25400"/>
          </a:xfrm>
          <a:prstGeom prst="rect">
            <a:avLst/>
          </a:prstGeom>
          <a:solidFill>
            <a:srgbClr val="28D3C9"/>
          </a:solidFill>
          <a:ln/>
        </p:spPr>
      </p:sp>
      <p:sp>
        <p:nvSpPr>
          <p:cNvPr id="18" name="Text 16"/>
          <p:cNvSpPr/>
          <p:nvPr/>
        </p:nvSpPr>
        <p:spPr>
          <a:xfrm>
            <a:off x="661475" y="5371604"/>
            <a:ext cx="5339820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50" spc="-56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Multimodality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661475" y="5744865"/>
            <a:ext cx="5339820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Unified handling of voice, text, and document inputs through a single intelligent pipeline reduces complexity and improves the user experience.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190301" y="4958854"/>
            <a:ext cx="378014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45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190301" y="5226348"/>
            <a:ext cx="5339919" cy="25400"/>
          </a:xfrm>
          <a:prstGeom prst="rect">
            <a:avLst/>
          </a:prstGeom>
          <a:solidFill>
            <a:srgbClr val="28D3C9"/>
          </a:solidFill>
          <a:ln/>
        </p:spPr>
      </p:sp>
      <p:sp>
        <p:nvSpPr>
          <p:cNvPr id="22" name="Text 20"/>
          <p:cNvSpPr/>
          <p:nvPr/>
        </p:nvSpPr>
        <p:spPr>
          <a:xfrm>
            <a:off x="6190301" y="5371604"/>
            <a:ext cx="5339919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50" spc="-56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Scalability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6190301" y="5744865"/>
            <a:ext cx="5339919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architecture is built to scale across departments, channels, and document volumes as Telecom Egypt's knowledge base continues to grow.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5233360" y="620216"/>
            <a:ext cx="1092867" cy="287139"/>
          </a:xfrm>
          <a:prstGeom prst="roundRect">
            <a:avLst>
              <a:gd name="adj" fmla="val 47396"/>
            </a:avLst>
          </a:prstGeom>
          <a:solidFill>
            <a:srgbClr val="D4F7F5"/>
          </a:solidFill>
          <a:ln/>
        </p:spPr>
      </p:sp>
      <p:sp>
        <p:nvSpPr>
          <p:cNvPr id="4" name="Text 1"/>
          <p:cNvSpPr/>
          <p:nvPr/>
        </p:nvSpPr>
        <p:spPr>
          <a:xfrm>
            <a:off x="5346765" y="676870"/>
            <a:ext cx="147564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EVALUATION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233360" y="982960"/>
            <a:ext cx="6296860" cy="1039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700" spc="-112" kern="0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Assessment &amp; Performance Metrics</a:t>
            </a:r>
            <a:endParaRPr lang="en-US" sz="3700" dirty="0"/>
          </a:p>
        </p:txBody>
      </p:sp>
      <p:sp>
        <p:nvSpPr>
          <p:cNvPr id="6" name="Shape 3"/>
          <p:cNvSpPr/>
          <p:nvPr/>
        </p:nvSpPr>
        <p:spPr>
          <a:xfrm>
            <a:off x="5233360" y="2306042"/>
            <a:ext cx="1972915" cy="3931741"/>
          </a:xfrm>
          <a:prstGeom prst="roundRect">
            <a:avLst>
              <a:gd name="adj" fmla="val 8623"/>
            </a:avLst>
          </a:prstGeom>
          <a:solidFill>
            <a:srgbClr val="D4F7F5"/>
          </a:solidFill>
          <a:ln/>
        </p:spPr>
      </p:sp>
      <p:sp>
        <p:nvSpPr>
          <p:cNvPr id="7" name="Shape 4"/>
          <p:cNvSpPr/>
          <p:nvPr/>
        </p:nvSpPr>
        <p:spPr>
          <a:xfrm>
            <a:off x="5422367" y="2495054"/>
            <a:ext cx="567021" cy="567035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78335" y="2651026"/>
            <a:ext cx="255085" cy="2550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22367" y="3251101"/>
            <a:ext cx="1594902" cy="519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50" spc="-56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Retrieval Accuracy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5422367" y="3884216"/>
            <a:ext cx="1594902" cy="148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Measured via precision and recall on a curated benchmark of Telecom Egypt-specific queries in both Arabic dialect and standard forms.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7395283" y="2306042"/>
            <a:ext cx="1972915" cy="3931741"/>
          </a:xfrm>
          <a:prstGeom prst="roundRect">
            <a:avLst>
              <a:gd name="adj" fmla="val 8623"/>
            </a:avLst>
          </a:prstGeom>
          <a:solidFill>
            <a:srgbClr val="D4F7F5"/>
          </a:solidFill>
          <a:ln/>
        </p:spPr>
      </p:sp>
      <p:sp>
        <p:nvSpPr>
          <p:cNvPr id="12" name="Shape 8"/>
          <p:cNvSpPr/>
          <p:nvPr/>
        </p:nvSpPr>
        <p:spPr>
          <a:xfrm>
            <a:off x="7584290" y="2495054"/>
            <a:ext cx="567021" cy="567035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0258" y="2651026"/>
            <a:ext cx="255085" cy="25509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584290" y="3251101"/>
            <a:ext cx="1594902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50" spc="-56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Dialect Comprehension</a:t>
            </a:r>
            <a:endParaRPr lang="en-US" sz="1850" dirty="0"/>
          </a:p>
        </p:txBody>
      </p:sp>
      <p:sp>
        <p:nvSpPr>
          <p:cNvPr id="15" name="Text 10"/>
          <p:cNvSpPr/>
          <p:nvPr/>
        </p:nvSpPr>
        <p:spPr>
          <a:xfrm>
            <a:off x="7584290" y="4144070"/>
            <a:ext cx="1594902" cy="1904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ASR and NLU performance is evaluated on Egyptian dialect test sets to ensure robust understanding across regional speech patterns and vocabulary.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9557205" y="2306042"/>
            <a:ext cx="1972915" cy="3931741"/>
          </a:xfrm>
          <a:prstGeom prst="roundRect">
            <a:avLst>
              <a:gd name="adj" fmla="val 8623"/>
            </a:avLst>
          </a:prstGeom>
          <a:solidFill>
            <a:srgbClr val="D4F7F5"/>
          </a:solidFill>
          <a:ln/>
        </p:spPr>
      </p:sp>
      <p:sp>
        <p:nvSpPr>
          <p:cNvPr id="17" name="Shape 12"/>
          <p:cNvSpPr/>
          <p:nvPr/>
        </p:nvSpPr>
        <p:spPr>
          <a:xfrm>
            <a:off x="9746212" y="2495054"/>
            <a:ext cx="567021" cy="567035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02180" y="2651026"/>
            <a:ext cx="255085" cy="25509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746212" y="3251101"/>
            <a:ext cx="1594902" cy="519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50" spc="-56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User Satisfaction</a:t>
            </a:r>
            <a:endParaRPr lang="en-US" sz="1850" dirty="0"/>
          </a:p>
        </p:txBody>
      </p:sp>
      <p:sp>
        <p:nvSpPr>
          <p:cNvPr id="20" name="Text 14"/>
          <p:cNvSpPr/>
          <p:nvPr/>
        </p:nvSpPr>
        <p:spPr>
          <a:xfrm>
            <a:off x="9746212" y="3884216"/>
            <a:ext cx="1594902" cy="1693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Post-interaction feedback scores and resolution rates are tracked to continuously improve response quality and assistant usability across all channels.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244207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81930"/>
                </a:lnTo>
                <a:lnTo>
                  <a:pt x="95020" y="85250"/>
                </a:lnTo>
                <a:lnTo>
                  <a:pt x="90920" y="87600"/>
                </a:lnTo>
                <a:lnTo>
                  <a:pt x="88960" y="88480"/>
                </a:lnTo>
                <a:lnTo>
                  <a:pt x="88870" y="88670"/>
                </a:lnTo>
                <a:lnTo>
                  <a:pt x="83400" y="91210"/>
                </a:lnTo>
                <a:lnTo>
                  <a:pt x="76070" y="93950"/>
                </a:lnTo>
                <a:lnTo>
                  <a:pt x="69820" y="95700"/>
                </a:lnTo>
                <a:lnTo>
                  <a:pt x="63480" y="96970"/>
                </a:lnTo>
                <a:lnTo>
                  <a:pt x="57130" y="97750"/>
                </a:lnTo>
                <a:lnTo>
                  <a:pt x="50200" y="98050"/>
                </a:lnTo>
                <a:lnTo>
                  <a:pt x="44240" y="97850"/>
                </a:lnTo>
                <a:lnTo>
                  <a:pt x="38480" y="97270"/>
                </a:lnTo>
                <a:lnTo>
                  <a:pt x="32810" y="96290"/>
                </a:lnTo>
                <a:lnTo>
                  <a:pt x="25200" y="94340"/>
                </a:lnTo>
                <a:lnTo>
                  <a:pt x="19530" y="92380"/>
                </a:lnTo>
                <a:lnTo>
                  <a:pt x="13960" y="90040"/>
                </a:lnTo>
                <a:lnTo>
                  <a:pt x="7320" y="86620"/>
                </a:lnTo>
                <a:lnTo>
                  <a:pt x="290" y="82230"/>
                </a:lnTo>
                <a:lnTo>
                  <a:pt x="0" y="8193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661475" y="2845594"/>
            <a:ext cx="925291" cy="282674"/>
          </a:xfrm>
          <a:prstGeom prst="roundRect">
            <a:avLst>
              <a:gd name="adj" fmla="val 47393"/>
            </a:avLst>
          </a:prstGeom>
          <a:solidFill>
            <a:srgbClr val="D4F7F5"/>
          </a:solidFill>
          <a:ln/>
        </p:spPr>
      </p:sp>
      <p:sp>
        <p:nvSpPr>
          <p:cNvPr id="4" name="Text 1"/>
          <p:cNvSpPr/>
          <p:nvPr/>
        </p:nvSpPr>
        <p:spPr>
          <a:xfrm>
            <a:off x="773093" y="2901355"/>
            <a:ext cx="1311639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ROADMAP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3201491"/>
            <a:ext cx="10868745" cy="511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50" spc="-110" kern="0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Next Steps &amp; Implementation Roadmap</a:t>
            </a:r>
            <a:endParaRPr lang="en-US" sz="3650" dirty="0"/>
          </a:p>
        </p:txBody>
      </p:sp>
      <p:sp>
        <p:nvSpPr>
          <p:cNvPr id="6" name="Shape 3"/>
          <p:cNvSpPr/>
          <p:nvPr/>
        </p:nvSpPr>
        <p:spPr>
          <a:xfrm>
            <a:off x="661475" y="4546005"/>
            <a:ext cx="3500747" cy="186035"/>
          </a:xfrm>
          <a:prstGeom prst="roundRect">
            <a:avLst>
              <a:gd name="adj" fmla="val 49999"/>
            </a:avLst>
          </a:prstGeom>
          <a:solidFill>
            <a:srgbClr val="D4F7F5"/>
          </a:solidFill>
          <a:ln/>
        </p:spPr>
      </p:sp>
      <p:sp>
        <p:nvSpPr>
          <p:cNvPr id="7" name="Text 4"/>
          <p:cNvSpPr/>
          <p:nvPr/>
        </p:nvSpPr>
        <p:spPr>
          <a:xfrm>
            <a:off x="847505" y="4915198"/>
            <a:ext cx="3128686" cy="255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spc="-55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Pilot Deployment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47505" y="5280819"/>
            <a:ext cx="3128686" cy="826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Launch a controlled pilot with a select team of Telecom Egypt contact center agents to validate performance in real operational conditions.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5375" y="4266902"/>
            <a:ext cx="3500846" cy="186035"/>
          </a:xfrm>
          <a:prstGeom prst="roundRect">
            <a:avLst>
              <a:gd name="adj" fmla="val 49999"/>
            </a:avLst>
          </a:prstGeom>
          <a:solidFill>
            <a:srgbClr val="D4F7F5"/>
          </a:solidFill>
          <a:ln/>
        </p:spPr>
      </p:sp>
      <p:sp>
        <p:nvSpPr>
          <p:cNvPr id="10" name="Text 7"/>
          <p:cNvSpPr/>
          <p:nvPr/>
        </p:nvSpPr>
        <p:spPr>
          <a:xfrm>
            <a:off x="4531405" y="4636095"/>
            <a:ext cx="3128785" cy="255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spc="-55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Knowledge Base Expansion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531405" y="5001716"/>
            <a:ext cx="3128785" cy="826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Continuously ingest new documents, policy updates, and product information to keep the RAG system current with Telecom Egypt's evolving knowledge landscape.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029374" y="3987800"/>
            <a:ext cx="3500747" cy="186035"/>
          </a:xfrm>
          <a:prstGeom prst="roundRect">
            <a:avLst>
              <a:gd name="adj" fmla="val 49999"/>
            </a:avLst>
          </a:prstGeom>
          <a:solidFill>
            <a:srgbClr val="D4F7F5"/>
          </a:solidFill>
          <a:ln/>
        </p:spPr>
      </p:sp>
      <p:sp>
        <p:nvSpPr>
          <p:cNvPr id="13" name="Text 10"/>
          <p:cNvSpPr/>
          <p:nvPr/>
        </p:nvSpPr>
        <p:spPr>
          <a:xfrm>
            <a:off x="8215405" y="4356993"/>
            <a:ext cx="3128686" cy="255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spc="-55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Full-Scale Rollout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215405" y="4722614"/>
            <a:ext cx="3128686" cy="826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Scale the assistant across all customer-facing and internal channels, incorporating feedback-driven improvements and extended dialect model fine-tuning.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2026-09-19T00:49:51Z</dcterms:created>
  <dcterms:modified xsi:type="dcterms:W3CDTF">2026-09-19T00:49:51Z</dcterms:modified>
</cp:coreProperties>
</file>